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Instrument Sans Medium" panose="020B0604020202020204" charset="0"/>
      <p:regular r:id="rId15"/>
    </p:embeddedFont>
    <p:embeddedFont>
      <p:font typeface="Instrument Sans Semi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225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605358"/>
            <a:ext cx="2082478" cy="266402"/>
          </a:xfrm>
          <a:prstGeom prst="roundRect">
            <a:avLst>
              <a:gd name="adj" fmla="val 38315"/>
            </a:avLst>
          </a:prstGeom>
          <a:solidFill>
            <a:srgbClr val="CEE6FD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647849"/>
            <a:ext cx="236956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AI-POWERED FRAUD PREVENTION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92846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GuardIndia AI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1584052"/>
            <a:ext cx="4722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Securing India's Digital Lending Stack</a:t>
            </a:r>
            <a:endParaRPr lang="en-US" sz="3850" dirty="0"/>
          </a:p>
        </p:txBody>
      </p:sp>
      <p:sp>
        <p:nvSpPr>
          <p:cNvPr id="7" name="Text 4"/>
          <p:cNvSpPr/>
          <p:nvPr/>
        </p:nvSpPr>
        <p:spPr>
          <a:xfrm>
            <a:off x="3925119" y="3630811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Standard e-KYC verifies if an identity </a:t>
            </a:r>
            <a:r>
              <a:rPr lang="en-US" sz="11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exists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</a:t>
            </a:r>
            <a:r>
              <a:rPr lang="en-US" sz="1100" b="1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GuardIndia AI verifies if the applicant is a real, organic human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or a synthetic factory clone. Built for instant micro-lenders, fintechs, and credit ecosystems on India's DPI stack.</a:t>
            </a:r>
            <a:endParaRPr lang="en-US" sz="11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5916C9-AC4E-2F85-39B2-08F76D4FCBB2}"/>
              </a:ext>
            </a:extLst>
          </p:cNvPr>
          <p:cNvSpPr/>
          <p:nvPr/>
        </p:nvSpPr>
        <p:spPr>
          <a:xfrm>
            <a:off x="8018585" y="4853354"/>
            <a:ext cx="1062110" cy="232117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21332"/>
            <a:ext cx="884188" cy="222349"/>
          </a:xfrm>
          <a:prstGeom prst="roundRect">
            <a:avLst>
              <a:gd name="adj" fmla="val 38734"/>
            </a:avLst>
          </a:prstGeom>
          <a:noFill/>
          <a:ln w="4763">
            <a:solidFill>
              <a:srgbClr val="84C1FA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616" y="484659"/>
            <a:ext cx="95622" cy="95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6012" y="461962"/>
            <a:ext cx="1044997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THREAT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496119" y="684014"/>
            <a:ext cx="456783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Invisible Bust-Out Threat</a:t>
            </a:r>
            <a:endParaRPr lang="en-US" sz="2350" dirty="0"/>
          </a:p>
        </p:txBody>
      </p:sp>
      <p:sp>
        <p:nvSpPr>
          <p:cNvPr id="7" name="Text 3"/>
          <p:cNvSpPr/>
          <p:nvPr/>
        </p:nvSpPr>
        <p:spPr>
          <a:xfrm>
            <a:off x="496119" y="1209154"/>
            <a:ext cx="4722763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Fraud syndicates combine dark web breaches (valid Aadhaar/PAN) with burner SIMs and generative AI to create high-quality fake KYC cards and deepfake camera streams. Because these profiles contain partially valid registry data, they pass standard compliance gates — and then systematically exploit the lending ecosystem.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028081"/>
            <a:ext cx="598066" cy="101560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95090" y="2147664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Exploit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1195090" y="2395017"/>
            <a:ext cx="4023792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Dark web breaches (valid Aadhaar/PAN) combined with burner SIMs and generative AI create high-quality fake KYC cards and deepfake camera streams.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043684"/>
            <a:ext cx="598066" cy="8392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95090" y="3163267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Incubation Phase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1195090" y="3410620"/>
            <a:ext cx="4023792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Profiles pass standard compliance gates, take micro-loans, and repay on time over 60–90 days to inflate CIBIL scores above 700.</a:t>
            </a:r>
            <a:endParaRPr lang="en-US" sz="9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882926"/>
            <a:ext cx="598066" cy="83924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95090" y="4002509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Coordinated Payout</a:t>
            </a:r>
            <a:endParaRPr lang="en-US" sz="1150" dirty="0"/>
          </a:p>
        </p:txBody>
      </p:sp>
      <p:sp>
        <p:nvSpPr>
          <p:cNvPr id="16" name="Text 9"/>
          <p:cNvSpPr/>
          <p:nvPr/>
        </p:nvSpPr>
        <p:spPr>
          <a:xfrm>
            <a:off x="1195090" y="4249862"/>
            <a:ext cx="4023792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scripts execute synchronized withdrawals across multiple platforms simultaneously, siphoning cash before bureaus can sync.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8905"/>
            <a:ext cx="1375395" cy="266402"/>
          </a:xfrm>
          <a:prstGeom prst="roundRect">
            <a:avLst>
              <a:gd name="adj" fmla="val 38315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51396"/>
            <a:ext cx="166248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PARADIGM SHIFT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32011"/>
            <a:ext cx="495441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Compliance is Not Security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394022" y="1387599"/>
            <a:ext cx="4107135" cy="2248495"/>
          </a:xfrm>
          <a:prstGeom prst="roundRect">
            <a:avLst>
              <a:gd name="adj" fmla="val 9079"/>
            </a:avLst>
          </a:prstGeom>
          <a:solidFill>
            <a:srgbClr val="000E21"/>
          </a:solidFill>
          <a:ln/>
        </p:spPr>
      </p:sp>
      <p:sp>
        <p:nvSpPr>
          <p:cNvPr id="6" name="Text 4"/>
          <p:cNvSpPr/>
          <p:nvPr/>
        </p:nvSpPr>
        <p:spPr>
          <a:xfrm>
            <a:off x="535781" y="1529358"/>
            <a:ext cx="2691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578D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Compliance Check (Static)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5781" y="1892573"/>
            <a:ext cx="3823618" cy="1176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Does PAN </a:t>
            </a:r>
            <a:r>
              <a:rPr lang="en-US" sz="1100" dirty="0">
                <a:solidFill>
                  <a:srgbClr val="FFFFFF"/>
                </a:solidFill>
                <a:highlight>
                  <a:srgbClr val="0D1B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ABCDE1234F</a:t>
            </a: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exist?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Result: Yes → Approved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Static verification confirms registry presence but cannot detect synthetic identity networks or coordinated fraud.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1529358"/>
            <a:ext cx="30605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A561C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GuardIndia Security (Dynamic)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1892573"/>
            <a:ext cx="3902943" cy="1615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Does the relationship between this PAN, phone, device fingerprint, and behavioral biometrics indicate </a:t>
            </a: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organic human ownership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?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Result: Flagged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Dynamic analysis evaluates the full identity graph, catching synthetic profiles that pass static checks.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795564"/>
            <a:ext cx="8151763" cy="779562"/>
          </a:xfrm>
          <a:prstGeom prst="roundRect">
            <a:avLst>
              <a:gd name="adj" fmla="val 16367"/>
            </a:avLst>
          </a:prstGeom>
          <a:solidFill>
            <a:srgbClr val="B6D6FC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996333"/>
            <a:ext cx="177180" cy="14175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56816" y="3958530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 Value Proposition:</a:t>
            </a: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 real-time, 4-layer threat assessment pipeline that links identity graphs, validates document integrity, binds device hardware, and analyzes interactive biometrics — </a:t>
            </a:r>
            <a:r>
              <a:rPr lang="en-US" sz="11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before loan disbursal.</a:t>
            </a:r>
            <a:endParaRPr lang="en-US" sz="11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B14FD12-B822-CA67-8A1D-A2F35FF8A9C4}"/>
              </a:ext>
            </a:extLst>
          </p:cNvPr>
          <p:cNvSpPr/>
          <p:nvPr/>
        </p:nvSpPr>
        <p:spPr>
          <a:xfrm>
            <a:off x="8018585" y="4853354"/>
            <a:ext cx="1062110" cy="232117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63376"/>
            <a:ext cx="1362447" cy="218033"/>
          </a:xfrm>
          <a:prstGeom prst="roundRect">
            <a:avLst>
              <a:gd name="adj" fmla="val 40232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569193" y="499914"/>
            <a:ext cx="1673498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DEFENSE 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23230"/>
            <a:ext cx="4707136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4-Layer Defense Architecture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96119" y="1260946"/>
            <a:ext cx="86089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How GuardIndia AI stops synthetic fraud — layer by layer, before a single rupee is disbursed.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59868"/>
            <a:ext cx="4023568" cy="15984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16522" y="1642690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2222" y="2044229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Identity Graph Audit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32222" y="2297385"/>
            <a:ext cx="3751362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NetworkX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Maps PANs, phone numbers, and names into mathematical nodes. Computes Jaccard coefficients to check if new relationships deviate from historically established registry patterns.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4313" y="1559868"/>
            <a:ext cx="4023568" cy="15984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44717" y="1642690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760416" y="2044229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Document Integrity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760416" y="2297385"/>
            <a:ext cx="3751362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OpenCV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Error Level Analysis (ELA) detects photo/text alterations. Moiré FFT detects screen-reproduced cards. Photometric Liveness flashes random screens to check for 3D skin reflectance, blocking virtual camera and video feed injections.</a:t>
            </a:r>
            <a:endParaRPr lang="en-US" sz="9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262908"/>
            <a:ext cx="4023568" cy="14172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416522" y="3345731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32222" y="3747269"/>
            <a:ext cx="1552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Device Fingerprinting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32222" y="4000426"/>
            <a:ext cx="3751362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WebGL + Isolation Forest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Renders a silent 3D graphic. GPU rendering variations generate a hardware-unique signature, isolating emulator farms and multi-account browser rigs.</a:t>
            </a:r>
            <a:endParaRPr lang="en-US" sz="9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4313" y="3262908"/>
            <a:ext cx="4023568" cy="14172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44717" y="3345731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760416" y="3747269"/>
            <a:ext cx="155361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Behavioral Biometrics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760416" y="4000426"/>
            <a:ext cx="3751362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Random Forest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Monitors live telemetry (mouse path variance, typing cadence, clipboard pastes). Robotic scripts interact with absolute velocity/precision, producing high anomaly ratings.</a:t>
            </a:r>
            <a:endParaRPr lang="en-US" sz="95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56CD0A6-2BE5-88C1-E3E2-63BB9F2E19FA}"/>
              </a:ext>
            </a:extLst>
          </p:cNvPr>
          <p:cNvSpPr/>
          <p:nvPr/>
        </p:nvSpPr>
        <p:spPr>
          <a:xfrm>
            <a:off x="8018585" y="4853354"/>
            <a:ext cx="1062110" cy="232117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46931"/>
            <a:ext cx="688777" cy="197644"/>
          </a:xfrm>
          <a:prstGeom prst="roundRect">
            <a:avLst>
              <a:gd name="adj" fmla="val 41154"/>
            </a:avLst>
          </a:prstGeom>
          <a:solidFill>
            <a:srgbClr val="CEE6FD"/>
          </a:solidFill>
          <a:ln/>
        </p:spPr>
      </p:sp>
      <p:sp>
        <p:nvSpPr>
          <p:cNvPr id="4" name="Text 1"/>
          <p:cNvSpPr/>
          <p:nvPr/>
        </p:nvSpPr>
        <p:spPr>
          <a:xfrm>
            <a:off x="3992835" y="480789"/>
            <a:ext cx="1010543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INNOVATION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925119" y="680517"/>
            <a:ext cx="4860131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Advanced Safeguards for Fintech</a:t>
            </a:r>
            <a:endParaRPr lang="en-US" sz="2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168450"/>
            <a:ext cx="225921" cy="2259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25119" y="1506885"/>
            <a:ext cx="141714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TPM Passkey Binding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925119" y="1737345"/>
            <a:ext cx="4722763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Binds the user session directly to the physical device's Secure Enclave using WebAuthn. Replaces weak carrier-SIM checks with hardware-backed credentials that cannot be spoofed or ported.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404467"/>
            <a:ext cx="225921" cy="2259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25119" y="2742902"/>
            <a:ext cx="161032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Stateful Circuit Breakers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925119" y="2973363"/>
            <a:ext cx="4722763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Ensures 100% platform uptime. If heavy ML model servers or LLM APIs encounter lag or failure, the system falls back instantly to local deterministic rules — CLOSED ⇆ OPEN states with zero downtime.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3640485"/>
            <a:ext cx="225921" cy="22592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925119" y="3978920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AI Analyst Copilot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3925119" y="4209380"/>
            <a:ext cx="4722763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Synthesizes complex telemetry data into plain-English threat narratives using LLMs, empowering manual underwriters to review and act on decisions instantly without ML expertise.</a:t>
            </a:r>
            <a:endParaRPr lang="en-US" sz="85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B08F6E6-2FCC-13AC-3CCC-14B5783B01D6}"/>
              </a:ext>
            </a:extLst>
          </p:cNvPr>
          <p:cNvSpPr/>
          <p:nvPr/>
        </p:nvSpPr>
        <p:spPr>
          <a:xfrm>
            <a:off x="8018585" y="4853354"/>
            <a:ext cx="1062110" cy="232117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9901"/>
            <a:ext cx="790947" cy="233660"/>
          </a:xfrm>
          <a:prstGeom prst="roundRect">
            <a:avLst>
              <a:gd name="adj" fmla="val 39589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573137" y="438373"/>
            <a:ext cx="1094110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80070"/>
            <a:ext cx="6865218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High-Performance, Zero-Blocking Pipeline</a:t>
            </a:r>
            <a:endParaRPr lang="en-US" sz="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29284"/>
            <a:ext cx="3072631" cy="17411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86944" y="1372493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Frontend Tracker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886944" y="1689571"/>
            <a:ext cx="522282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React, Vite, WebGL GPU Shader, WebAuthn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86944" y="2001887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Backend Engine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886944" y="2318965"/>
            <a:ext cx="4765625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FastAPI (using background tasks for zero-blocking visual analysis), SQLite (relational records), SQLAlchemy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886944" y="2827213"/>
            <a:ext cx="214997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ML &amp; Analytics Engine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886944" y="3144292"/>
            <a:ext cx="4765625" cy="865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scikit-learn (Isolation Forest for device telemetry; Random Forest for biometrics)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OpenCV (Computer Vision for ELA scan / Moiré FFT)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NetworkX (Mathematical Graph Linkage)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86944" y="4125813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API Decision Layer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886944" y="4442892"/>
            <a:ext cx="522282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Gemini API / LLM-based Copilot reporting</a:t>
            </a:r>
            <a:endParaRPr lang="en-US" sz="1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585A6B7-A864-ED54-2705-1B535BC24812}"/>
              </a:ext>
            </a:extLst>
          </p:cNvPr>
          <p:cNvSpPr/>
          <p:nvPr/>
        </p:nvSpPr>
        <p:spPr>
          <a:xfrm>
            <a:off x="8018585" y="4853354"/>
            <a:ext cx="1062110" cy="232117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6255"/>
            <a:ext cx="697409" cy="239018"/>
          </a:xfrm>
          <a:prstGeom prst="roundRect">
            <a:avLst>
              <a:gd name="adj" fmla="val 39369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574477" y="435397"/>
            <a:ext cx="9978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83419"/>
            <a:ext cx="5185246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Built for Scale, Ready to Deploy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4564856" y="1272480"/>
            <a:ext cx="14288" cy="2519809"/>
          </a:xfrm>
          <a:prstGeom prst="roundRect">
            <a:avLst>
              <a:gd name="adj" fmla="val 823227"/>
            </a:avLst>
          </a:prstGeom>
          <a:solidFill>
            <a:srgbClr val="B4CCE3"/>
          </a:solidFill>
          <a:ln/>
        </p:spPr>
      </p:sp>
      <p:sp>
        <p:nvSpPr>
          <p:cNvPr id="6" name="Shape 4"/>
          <p:cNvSpPr/>
          <p:nvPr/>
        </p:nvSpPr>
        <p:spPr>
          <a:xfrm>
            <a:off x="4047269" y="1412304"/>
            <a:ext cx="392013" cy="14288"/>
          </a:xfrm>
          <a:prstGeom prst="roundRect">
            <a:avLst>
              <a:gd name="adj" fmla="val 823227"/>
            </a:avLst>
          </a:prstGeom>
          <a:solidFill>
            <a:srgbClr val="B4CCE3"/>
          </a:solidFill>
          <a:ln/>
        </p:spPr>
      </p:sp>
      <p:sp>
        <p:nvSpPr>
          <p:cNvPr id="7" name="Shape 5"/>
          <p:cNvSpPr/>
          <p:nvPr/>
        </p:nvSpPr>
        <p:spPr>
          <a:xfrm>
            <a:off x="4424995" y="1272480"/>
            <a:ext cx="294010" cy="294010"/>
          </a:xfrm>
          <a:prstGeom prst="roundRect">
            <a:avLst>
              <a:gd name="adj" fmla="val 40006"/>
            </a:avLst>
          </a:prstGeom>
          <a:solidFill>
            <a:srgbClr val="CEE6FD"/>
          </a:solidFill>
          <a:ln/>
        </p:spPr>
      </p:sp>
      <p:sp>
        <p:nvSpPr>
          <p:cNvPr id="8" name="Text 6"/>
          <p:cNvSpPr/>
          <p:nvPr/>
        </p:nvSpPr>
        <p:spPr>
          <a:xfrm>
            <a:off x="4473959" y="1296925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4958" y="131735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Phase 1 — Prototype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6119" y="1593726"/>
            <a:ext cx="3422452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Current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Working full-stack React and FastAPI dashboard with live trackers, model inference pipelines, and mock databases.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4717" y="2176016"/>
            <a:ext cx="392013" cy="14288"/>
          </a:xfrm>
          <a:prstGeom prst="roundRect">
            <a:avLst>
              <a:gd name="adj" fmla="val 823227"/>
            </a:avLst>
          </a:prstGeom>
          <a:solidFill>
            <a:srgbClr val="B4CCE3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4995" y="2036192"/>
            <a:ext cx="294010" cy="294010"/>
          </a:xfrm>
          <a:prstGeom prst="roundRect">
            <a:avLst>
              <a:gd name="adj" fmla="val 40006"/>
            </a:avLst>
          </a:prstGeom>
          <a:solidFill>
            <a:srgbClr val="CEE6FD"/>
          </a:solidFill>
          <a:ln/>
        </p:spPr>
      </p:sp>
      <p:sp>
        <p:nvSpPr>
          <p:cNvPr id="13" name="Text 11"/>
          <p:cNvSpPr/>
          <p:nvPr/>
        </p:nvSpPr>
        <p:spPr>
          <a:xfrm>
            <a:off x="4473959" y="2060637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25430" y="2081064"/>
            <a:ext cx="165645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Phase 2 — Integration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25430" y="2357438"/>
            <a:ext cx="342245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Exposing API endpoints for easy plug-and-play middleware integration with existing lending apps.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47269" y="2841650"/>
            <a:ext cx="392013" cy="14288"/>
          </a:xfrm>
          <a:prstGeom prst="roundRect">
            <a:avLst>
              <a:gd name="adj" fmla="val 823227"/>
            </a:avLst>
          </a:prstGeom>
          <a:solidFill>
            <a:srgbClr val="B4CCE3"/>
          </a:solidFill>
          <a:ln/>
        </p:spPr>
      </p:sp>
      <p:sp>
        <p:nvSpPr>
          <p:cNvPr id="17" name="Shape 15"/>
          <p:cNvSpPr/>
          <p:nvPr/>
        </p:nvSpPr>
        <p:spPr>
          <a:xfrm>
            <a:off x="4424995" y="2701826"/>
            <a:ext cx="294010" cy="294010"/>
          </a:xfrm>
          <a:prstGeom prst="roundRect">
            <a:avLst>
              <a:gd name="adj" fmla="val 40006"/>
            </a:avLst>
          </a:prstGeom>
          <a:solidFill>
            <a:srgbClr val="CEE6FD"/>
          </a:solidFill>
          <a:ln/>
        </p:spPr>
      </p:sp>
      <p:sp>
        <p:nvSpPr>
          <p:cNvPr id="18" name="Text 16"/>
          <p:cNvSpPr/>
          <p:nvPr/>
        </p:nvSpPr>
        <p:spPr>
          <a:xfrm>
            <a:off x="4473959" y="2726271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11722" y="2746697"/>
            <a:ext cx="2406848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Phase 3 — Consortium Registry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6119" y="3023071"/>
            <a:ext cx="3422452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8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Shared WebGL fingerprint database. If a hardware hash is flagged on Lender A's platform, the signature is updated ecosystem-wide, blocking Lender B bust-outs.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6119" y="3927797"/>
            <a:ext cx="8151763" cy="683865"/>
          </a:xfrm>
          <a:prstGeom prst="roundRect">
            <a:avLst>
              <a:gd name="adj" fmla="val 17200"/>
            </a:avLst>
          </a:prstGeom>
          <a:solidFill>
            <a:srgbClr val="B6FCB8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90" y="4114874"/>
            <a:ext cx="163339" cy="130671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20800" y="4068887"/>
            <a:ext cx="759641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Security Feasibility:</a:t>
            </a: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Low latency overhead. High-resource checks run asynchronously in background workers, keeping onboarding time under </a:t>
            </a:r>
            <a:r>
              <a:rPr lang="en-US" sz="10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15 seconds.</a:t>
            </a:r>
            <a:endParaRPr lang="en-US" sz="10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2626956-098B-F51A-1044-86E3D259E99D}"/>
              </a:ext>
            </a:extLst>
          </p:cNvPr>
          <p:cNvSpPr/>
          <p:nvPr/>
        </p:nvSpPr>
        <p:spPr>
          <a:xfrm>
            <a:off x="8018585" y="4853354"/>
            <a:ext cx="1062110" cy="232117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14412"/>
            <a:ext cx="1013520" cy="233660"/>
          </a:xfrm>
          <a:prstGeom prst="roundRect">
            <a:avLst>
              <a:gd name="adj" fmla="val 39589"/>
            </a:avLst>
          </a:prstGeom>
          <a:solidFill>
            <a:srgbClr val="CEE6FD"/>
          </a:solidFill>
          <a:ln/>
        </p:spPr>
      </p:sp>
      <p:sp>
        <p:nvSpPr>
          <p:cNvPr id="4" name="Text 1"/>
          <p:cNvSpPr/>
          <p:nvPr/>
        </p:nvSpPr>
        <p:spPr>
          <a:xfrm>
            <a:off x="573137" y="452884"/>
            <a:ext cx="1316682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ADVANTAGE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96119" y="694581"/>
            <a:ext cx="4492749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GuardIndia Advantage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96119" y="1270620"/>
            <a:ext cx="2303190" cy="1507034"/>
          </a:xfrm>
          <a:prstGeom prst="roundRect">
            <a:avLst>
              <a:gd name="adj" fmla="val 7673"/>
            </a:avLst>
          </a:prstGeom>
          <a:solidFill>
            <a:srgbClr val="CEE6FD"/>
          </a:solidFill>
          <a:ln/>
        </p:spPr>
      </p:sp>
      <p:sp>
        <p:nvSpPr>
          <p:cNvPr id="7" name="Text 4"/>
          <p:cNvSpPr/>
          <p:nvPr/>
        </p:nvSpPr>
        <p:spPr>
          <a:xfrm>
            <a:off x="624557" y="1399059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Zero Human Friction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4557" y="1669554"/>
            <a:ext cx="2046312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 human applicants experience no complex captchas or intrusive authentication. Legitimate users flow through onboarding seamlessly.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915692" y="1270620"/>
            <a:ext cx="2303190" cy="1507034"/>
          </a:xfrm>
          <a:prstGeom prst="roundRect">
            <a:avLst>
              <a:gd name="adj" fmla="val 7673"/>
            </a:avLst>
          </a:prstGeom>
          <a:solidFill>
            <a:srgbClr val="CEE6FD"/>
          </a:solidFill>
          <a:ln/>
        </p:spPr>
      </p:sp>
      <p:sp>
        <p:nvSpPr>
          <p:cNvPr id="10" name="Text 7"/>
          <p:cNvSpPr/>
          <p:nvPr/>
        </p:nvSpPr>
        <p:spPr>
          <a:xfrm>
            <a:off x="3044130" y="1399059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Proactive Prevention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044130" y="1669554"/>
            <a:ext cx="2046312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Blocks fraud syndicates </a:t>
            </a: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during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onboarding and incubation — before credit siphoning can occur. Prevention, not recovery.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96119" y="2894037"/>
            <a:ext cx="4722763" cy="919237"/>
          </a:xfrm>
          <a:prstGeom prst="roundRect">
            <a:avLst>
              <a:gd name="adj" fmla="val 12579"/>
            </a:avLst>
          </a:prstGeom>
          <a:solidFill>
            <a:srgbClr val="CEE6FD"/>
          </a:solidFill>
          <a:ln/>
        </p:spPr>
      </p:sp>
      <p:sp>
        <p:nvSpPr>
          <p:cNvPr id="13" name="Text 10"/>
          <p:cNvSpPr/>
          <p:nvPr/>
        </p:nvSpPr>
        <p:spPr>
          <a:xfrm>
            <a:off x="624557" y="302247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DPI Integration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24557" y="3292971"/>
            <a:ext cx="446588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Integrates into Aadhaar, PAN, and UPI ecosystems, acting as a security firewall for modern digital lending apps across India.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8777" y="4075212"/>
            <a:ext cx="4530105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GuardIndia AI doesn't just check identities — it </a:t>
            </a: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defends the entire digital lending ecosystem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against the next generation of synthetic fraud.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850</Words>
  <Application>Microsoft Office PowerPoint</Application>
  <PresentationFormat>On-screen Show (16:9)</PresentationFormat>
  <Paragraphs>88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Instrument Sans SemiBold</vt:lpstr>
      <vt:lpstr>Arial</vt:lpstr>
      <vt:lpstr>Consolas</vt:lpstr>
      <vt:lpstr>Instrument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Abhay Tiwari</cp:lastModifiedBy>
  <cp:revision>2</cp:revision>
  <dcterms:created xsi:type="dcterms:W3CDTF">2026-06-11T23:31:00Z</dcterms:created>
  <dcterms:modified xsi:type="dcterms:W3CDTF">2026-06-11T23:33:09Z</dcterms:modified>
</cp:coreProperties>
</file>